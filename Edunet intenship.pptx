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974" y="16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11430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953000" y="2667000"/>
            <a:ext cx="6172200" cy="1754326"/>
          </a:xfrm>
          <a:prstGeom prst="rect">
            <a:avLst/>
          </a:prstGeom>
          <a:noFill/>
        </p:spPr>
        <p:txBody>
          <a:bodyPr wrap="square" rtlCol="0">
            <a:spAutoFit/>
          </a:bodyPr>
          <a:lstStyle/>
          <a:p>
            <a:pPr algn="r"/>
            <a:r>
              <a:rPr lang="en-US" sz="3600" b="1" dirty="0">
                <a:solidFill>
                  <a:schemeClr val="bg1"/>
                </a:solidFill>
                <a:latin typeface="Arial" panose="020B0604020202020204" pitchFamily="34" charset="0"/>
                <a:cs typeface="Arial" panose="020B0604020202020204" pitchFamily="34" charset="0"/>
              </a:rPr>
              <a:t>Waste Classification Using Convolutional Neural Network (CNN)</a:t>
            </a: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691120" y="1342432"/>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9077325" y="3168609"/>
            <a:ext cx="1524000"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10" name="TextBox 9">
            <a:extLst>
              <a:ext uri="{FF2B5EF4-FFF2-40B4-BE49-F238E27FC236}">
                <a16:creationId xmlns:a16="http://schemas.microsoft.com/office/drawing/2014/main" id="{E1227BF2-AED9-A71A-723C-14D290467E47}"/>
              </a:ext>
            </a:extLst>
          </p:cNvPr>
          <p:cNvSpPr txBox="1"/>
          <p:nvPr/>
        </p:nvSpPr>
        <p:spPr>
          <a:xfrm>
            <a:off x="285749" y="1077470"/>
            <a:ext cx="7300595" cy="5057859"/>
          </a:xfrm>
          <a:prstGeom prst="rect">
            <a:avLst/>
          </a:prstGeom>
          <a:noFill/>
        </p:spPr>
        <p:txBody>
          <a:bodyPr wrap="square" rtlCol="0">
            <a:spAutoFit/>
          </a:bodyPr>
          <a:lstStyle/>
          <a:p>
            <a:r>
              <a:rPr lang="en-IN" dirty="0"/>
              <a:t> </a:t>
            </a:r>
          </a:p>
          <a:p>
            <a:pPr marL="285750" indent="-285750">
              <a:buFont typeface="Wingdings" panose="05000000000000000000" pitchFamily="2" charset="2"/>
              <a:buChar char="v"/>
            </a:pPr>
            <a:r>
              <a:rPr lang="en-IN" sz="1600" b="1" dirty="0"/>
              <a:t>Understand CNN for image classification</a:t>
            </a:r>
          </a:p>
          <a:p>
            <a:r>
              <a:rPr lang="en-IN" sz="1600" dirty="0"/>
              <a:t>➡ Successfully built a Sequential CNN model with Conv2D, </a:t>
            </a:r>
            <a:r>
              <a:rPr lang="en-IN" sz="1600" dirty="0" err="1"/>
              <a:t>MaxPooling</a:t>
            </a:r>
            <a:r>
              <a:rPr lang="en-IN" sz="1600" dirty="0"/>
              <a:t>, Flatten, and Dense layers.</a:t>
            </a:r>
          </a:p>
          <a:p>
            <a:endParaRPr lang="en-IN" sz="1600" dirty="0"/>
          </a:p>
          <a:p>
            <a:pPr marL="285750" indent="-285750">
              <a:buFont typeface="Wingdings" panose="05000000000000000000" pitchFamily="2" charset="2"/>
              <a:buChar char="v"/>
            </a:pPr>
            <a:r>
              <a:rPr lang="en-IN" sz="1600" b="1" dirty="0"/>
              <a:t>Implement dataset preprocessing and augmentation</a:t>
            </a:r>
          </a:p>
          <a:p>
            <a:r>
              <a:rPr lang="en-IN" sz="1600" dirty="0"/>
              <a:t>➡ Used 15,628 training and 3,904 validation images across 10 waste categories.</a:t>
            </a:r>
          </a:p>
          <a:p>
            <a:endParaRPr lang="en-IN" sz="1600" dirty="0"/>
          </a:p>
          <a:p>
            <a:pPr marL="285750" indent="-285750">
              <a:buFont typeface="Wingdings" panose="05000000000000000000" pitchFamily="2" charset="2"/>
              <a:buChar char="v"/>
            </a:pPr>
            <a:r>
              <a:rPr lang="en-IN" sz="1600" b="1" dirty="0"/>
              <a:t>Train and evaluate deep learning models</a:t>
            </a:r>
          </a:p>
          <a:p>
            <a:r>
              <a:rPr lang="en-IN" sz="1600" dirty="0"/>
              <a:t>➡ Achieved strong model performance with 99.8% confidence on test prediction.</a:t>
            </a:r>
          </a:p>
          <a:p>
            <a:endParaRPr lang="en-IN" sz="1600" dirty="0"/>
          </a:p>
          <a:p>
            <a:pPr marL="285750" indent="-285750">
              <a:buFont typeface="Wingdings" panose="05000000000000000000" pitchFamily="2" charset="2"/>
              <a:buChar char="v"/>
            </a:pPr>
            <a:r>
              <a:rPr lang="en-IN" sz="1600" b="1" dirty="0"/>
              <a:t>Visualize model accuracy and loss</a:t>
            </a:r>
          </a:p>
          <a:p>
            <a:r>
              <a:rPr lang="en-IN" sz="1600" dirty="0"/>
              <a:t>➡ Created plots showing training vs. validation accuracy/loss, helping </a:t>
            </a:r>
            <a:r>
              <a:rPr lang="en-IN" sz="1600" dirty="0" err="1"/>
              <a:t>analyze</a:t>
            </a:r>
            <a:r>
              <a:rPr lang="en-IN" sz="1600" dirty="0"/>
              <a:t> performance.</a:t>
            </a:r>
          </a:p>
          <a:p>
            <a:endParaRPr lang="en-IN" sz="1600" dirty="0"/>
          </a:p>
          <a:p>
            <a:pPr marL="285750" indent="-285750">
              <a:buFont typeface="Wingdings" panose="05000000000000000000" pitchFamily="2" charset="2"/>
              <a:buChar char="v"/>
            </a:pPr>
            <a:r>
              <a:rPr lang="en-IN" sz="1600" b="1" dirty="0"/>
              <a:t>Promote sustainable waste management using AI</a:t>
            </a:r>
          </a:p>
          <a:p>
            <a:r>
              <a:rPr lang="en-IN" sz="1600" dirty="0"/>
              <a:t>➡ CNN model accurately classifies waste into categories (plastic, paper, glass, etc.), supporting eco-friendly recycling.</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78191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C1C601E6-F9A7-7676-5656-A41A530862B9}"/>
              </a:ext>
            </a:extLst>
          </p:cNvPr>
          <p:cNvSpPr txBox="1"/>
          <p:nvPr/>
        </p:nvSpPr>
        <p:spPr>
          <a:xfrm>
            <a:off x="447676" y="1315374"/>
            <a:ext cx="11020424" cy="5078313"/>
          </a:xfrm>
          <a:prstGeom prst="rect">
            <a:avLst/>
          </a:prstGeom>
          <a:noFill/>
        </p:spPr>
        <p:txBody>
          <a:bodyPr wrap="square" rtlCol="0">
            <a:spAutoFit/>
          </a:bodyPr>
          <a:lstStyle/>
          <a:p>
            <a:r>
              <a:rPr lang="en-IN" sz="1800" b="1" dirty="0"/>
              <a:t>Programming Language:</a:t>
            </a:r>
          </a:p>
          <a:p>
            <a:endParaRPr lang="en-IN" sz="1800" dirty="0"/>
          </a:p>
          <a:p>
            <a:pPr marL="285750" indent="-285750">
              <a:buFont typeface="Arial" panose="020B0604020202020204" pitchFamily="34" charset="0"/>
              <a:buChar char="•"/>
            </a:pPr>
            <a:r>
              <a:rPr lang="en-IN" sz="1800" dirty="0"/>
              <a:t> Python</a:t>
            </a:r>
          </a:p>
          <a:p>
            <a:endParaRPr lang="en-IN" sz="1800" dirty="0"/>
          </a:p>
          <a:p>
            <a:r>
              <a:rPr lang="en-IN" sz="1800" b="1" dirty="0"/>
              <a:t>Frameworks &amp; Libraries:</a:t>
            </a:r>
          </a:p>
          <a:p>
            <a:endParaRPr lang="en-IN" sz="1800" b="1" dirty="0"/>
          </a:p>
          <a:p>
            <a:pPr marL="285750" indent="-285750">
              <a:buFont typeface="Arial" panose="020B0604020202020204" pitchFamily="34" charset="0"/>
              <a:buChar char="•"/>
            </a:pPr>
            <a:r>
              <a:rPr lang="en-IN" sz="1800" dirty="0"/>
              <a:t> TensorFlow – For deep learning model creation and training</a:t>
            </a:r>
          </a:p>
          <a:p>
            <a:pPr marL="285750" indent="-285750">
              <a:buFont typeface="Arial" panose="020B0604020202020204" pitchFamily="34" charset="0"/>
              <a:buChar char="•"/>
            </a:pPr>
            <a:r>
              <a:rPr lang="en-IN" sz="1800" dirty="0"/>
              <a:t> </a:t>
            </a:r>
            <a:r>
              <a:rPr lang="en-IN" sz="1800" dirty="0" err="1"/>
              <a:t>Keras</a:t>
            </a:r>
            <a:r>
              <a:rPr lang="en-IN" sz="1800" dirty="0"/>
              <a:t> – Simplified neural network API for TensorFlow</a:t>
            </a:r>
          </a:p>
          <a:p>
            <a:pPr marL="285750" indent="-285750">
              <a:buFont typeface="Arial" panose="020B0604020202020204" pitchFamily="34" charset="0"/>
              <a:buChar char="•"/>
            </a:pPr>
            <a:r>
              <a:rPr lang="en-IN" sz="1800" dirty="0"/>
              <a:t> NumPy – For numerical and array operations</a:t>
            </a:r>
          </a:p>
          <a:p>
            <a:pPr marL="285750" indent="-285750">
              <a:buFont typeface="Arial" panose="020B0604020202020204" pitchFamily="34" charset="0"/>
              <a:buChar char="•"/>
            </a:pPr>
            <a:r>
              <a:rPr lang="en-IN" sz="1800" dirty="0"/>
              <a:t> Pandas – For data handling and manipulation</a:t>
            </a:r>
          </a:p>
          <a:p>
            <a:pPr marL="285750" indent="-285750">
              <a:buFont typeface="Arial" panose="020B0604020202020204" pitchFamily="34" charset="0"/>
              <a:buChar char="•"/>
            </a:pPr>
            <a:r>
              <a:rPr lang="en-IN" sz="1800" dirty="0"/>
              <a:t> OpenCV-Python – For image preprocessing and transformation</a:t>
            </a:r>
          </a:p>
          <a:p>
            <a:pPr marL="285750" indent="-285750">
              <a:buFont typeface="Arial" panose="020B0604020202020204" pitchFamily="34" charset="0"/>
              <a:buChar char="•"/>
            </a:pPr>
            <a:r>
              <a:rPr lang="en-IN" sz="1800" dirty="0"/>
              <a:t> Matplotlib – For visualizing training accuracy and loss curves</a:t>
            </a:r>
          </a:p>
          <a:p>
            <a:pPr marL="285750" indent="-285750">
              <a:buFont typeface="Arial" panose="020B0604020202020204" pitchFamily="34" charset="0"/>
              <a:buChar char="•"/>
            </a:pPr>
            <a:r>
              <a:rPr lang="en-IN" sz="1800" dirty="0"/>
              <a:t> Scikit-learn – For performance metrics and evaluation</a:t>
            </a:r>
          </a:p>
          <a:p>
            <a:pPr marL="285750" indent="-285750">
              <a:buFont typeface="Arial" panose="020B0604020202020204" pitchFamily="34" charset="0"/>
              <a:buChar char="•"/>
            </a:pPr>
            <a:r>
              <a:rPr lang="en-IN" sz="1800" dirty="0"/>
              <a:t> </a:t>
            </a:r>
            <a:r>
              <a:rPr lang="en-IN" sz="1800" dirty="0" err="1"/>
              <a:t>tqdm</a:t>
            </a:r>
            <a:r>
              <a:rPr lang="en-IN" sz="1800" dirty="0"/>
              <a:t> – For displaying progress bars during training</a:t>
            </a:r>
          </a:p>
          <a:p>
            <a:endParaRPr lang="en-IN" sz="1800" dirty="0"/>
          </a:p>
          <a:p>
            <a:r>
              <a:rPr lang="en-IN" sz="1800" b="1" dirty="0"/>
              <a:t>Development Environment:</a:t>
            </a:r>
          </a:p>
          <a:p>
            <a:endParaRPr lang="en-IN" sz="1800" dirty="0"/>
          </a:p>
          <a:p>
            <a:pPr marL="285750" indent="-285750">
              <a:buFont typeface="Arial" panose="020B0604020202020204" pitchFamily="34" charset="0"/>
              <a:buChar char="•"/>
            </a:pPr>
            <a:r>
              <a:rPr lang="en-IN" sz="1800" dirty="0"/>
              <a:t> Google Colab / </a:t>
            </a:r>
            <a:r>
              <a:rPr lang="en-IN" sz="1800" dirty="0" err="1"/>
              <a:t>Jupyter</a:t>
            </a:r>
            <a:r>
              <a:rPr lang="en-IN" sz="1800" dirty="0"/>
              <a:t> Notebook – For model implementation and testing</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814631"/>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217B9A77-0A66-64D4-2384-01EC0CF55174}"/>
              </a:ext>
            </a:extLst>
          </p:cNvPr>
          <p:cNvSpPr txBox="1"/>
          <p:nvPr/>
        </p:nvSpPr>
        <p:spPr>
          <a:xfrm>
            <a:off x="268357" y="1014686"/>
            <a:ext cx="11655288" cy="5632311"/>
          </a:xfrm>
          <a:prstGeom prst="rect">
            <a:avLst/>
          </a:prstGeom>
          <a:noFill/>
        </p:spPr>
        <p:txBody>
          <a:bodyPr wrap="square" rtlCol="0">
            <a:spAutoFit/>
          </a:bodyPr>
          <a:lstStyle/>
          <a:p>
            <a:endParaRPr lang="en-IN" sz="1800" dirty="0"/>
          </a:p>
          <a:p>
            <a:pPr marL="285750" indent="-285750">
              <a:buFont typeface="Wingdings" panose="05000000000000000000" pitchFamily="2" charset="2"/>
              <a:buChar char="v"/>
            </a:pPr>
            <a:r>
              <a:rPr lang="en-IN" sz="1800" b="1" dirty="0"/>
              <a:t>Data Collection</a:t>
            </a:r>
          </a:p>
          <a:p>
            <a:pPr marL="285750" indent="-285750">
              <a:buFont typeface="Arial" panose="020B0604020202020204" pitchFamily="34" charset="0"/>
              <a:buChar char="•"/>
            </a:pPr>
            <a:r>
              <a:rPr lang="en-IN" sz="1800" dirty="0"/>
              <a:t> Collected waste images from the Garbage Classification Dataset (Kaggle) containing 10 categories such as</a:t>
            </a:r>
          </a:p>
          <a:p>
            <a:r>
              <a:rPr lang="en-IN" sz="1800" dirty="0"/>
              <a:t> plastic, paper, metal, glass, trash, etc.</a:t>
            </a:r>
          </a:p>
          <a:p>
            <a:pPr marL="285750" indent="-285750">
              <a:buFont typeface="Wingdings" panose="05000000000000000000" pitchFamily="2" charset="2"/>
              <a:buChar char="v"/>
            </a:pPr>
            <a:r>
              <a:rPr lang="en-IN" sz="1800" b="1" dirty="0"/>
              <a:t>Data Preprocessing</a:t>
            </a:r>
          </a:p>
          <a:p>
            <a:pPr marL="285750" indent="-285750">
              <a:buFont typeface="Arial" panose="020B0604020202020204" pitchFamily="34" charset="0"/>
              <a:buChar char="•"/>
            </a:pPr>
            <a:r>
              <a:rPr lang="en-IN" sz="1800" dirty="0"/>
              <a:t> Resized all images to 224×224 pixels</a:t>
            </a:r>
          </a:p>
          <a:p>
            <a:pPr marL="285750" indent="-285750">
              <a:buFont typeface="Arial" panose="020B0604020202020204" pitchFamily="34" charset="0"/>
              <a:buChar char="•"/>
            </a:pPr>
            <a:r>
              <a:rPr lang="en-IN" sz="1800" dirty="0"/>
              <a:t> Normalized pixel values using the Rescaling layer</a:t>
            </a:r>
          </a:p>
          <a:p>
            <a:pPr marL="285750" indent="-285750">
              <a:buFont typeface="Arial" panose="020B0604020202020204" pitchFamily="34" charset="0"/>
              <a:buChar char="•"/>
            </a:pPr>
            <a:r>
              <a:rPr lang="en-IN" sz="1800" dirty="0"/>
              <a:t> Split dataset into training (80%) and validation (20%) sets</a:t>
            </a:r>
          </a:p>
          <a:p>
            <a:pPr marL="285750" indent="-285750">
              <a:buFont typeface="Wingdings" panose="05000000000000000000" pitchFamily="2" charset="2"/>
              <a:buChar char="v"/>
            </a:pPr>
            <a:r>
              <a:rPr lang="en-IN" sz="1800" b="1" dirty="0"/>
              <a:t>Model Development</a:t>
            </a:r>
          </a:p>
          <a:p>
            <a:pPr marL="285750" indent="-285750">
              <a:buFont typeface="Arial" panose="020B0604020202020204" pitchFamily="34" charset="0"/>
              <a:buChar char="•"/>
            </a:pPr>
            <a:r>
              <a:rPr lang="en-IN" sz="1800" dirty="0"/>
              <a:t> Built a Sequential CNN model using TensorFlow/</a:t>
            </a:r>
            <a:r>
              <a:rPr lang="en-IN" sz="1800" dirty="0" err="1"/>
              <a:t>Keras</a:t>
            </a:r>
            <a:endParaRPr lang="en-IN" sz="1800" dirty="0"/>
          </a:p>
          <a:p>
            <a:pPr marL="285750" indent="-285750">
              <a:buFont typeface="Arial" panose="020B0604020202020204" pitchFamily="34" charset="0"/>
              <a:buChar char="•"/>
            </a:pPr>
            <a:r>
              <a:rPr lang="en-IN" sz="1800" dirty="0"/>
              <a:t> Added Conv2D, </a:t>
            </a:r>
            <a:r>
              <a:rPr lang="en-IN" sz="1800" dirty="0" err="1"/>
              <a:t>MaxPooling</a:t>
            </a:r>
            <a:r>
              <a:rPr lang="en-IN" sz="1800" dirty="0"/>
              <a:t>, Flatten, Dense, and Dropout layers</a:t>
            </a:r>
          </a:p>
          <a:p>
            <a:pPr marL="285750" indent="-285750">
              <a:buFont typeface="Wingdings" panose="05000000000000000000" pitchFamily="2" charset="2"/>
              <a:buChar char="v"/>
            </a:pPr>
            <a:r>
              <a:rPr lang="en-IN" sz="1800" b="1" dirty="0"/>
              <a:t>Model Training</a:t>
            </a:r>
          </a:p>
          <a:p>
            <a:pPr marL="285750" indent="-285750">
              <a:buFont typeface="Arial" panose="020B0604020202020204" pitchFamily="34" charset="0"/>
              <a:buChar char="•"/>
            </a:pPr>
            <a:r>
              <a:rPr lang="en-IN" sz="1800" dirty="0"/>
              <a:t> Trained the CNN on 15,628 training images and 3,904 validation images</a:t>
            </a:r>
          </a:p>
          <a:p>
            <a:pPr marL="285750" indent="-285750">
              <a:buFont typeface="Arial" panose="020B0604020202020204" pitchFamily="34" charset="0"/>
              <a:buChar char="•"/>
            </a:pPr>
            <a:r>
              <a:rPr lang="en-IN" sz="1800" dirty="0"/>
              <a:t> Used Adam optimizer and categorical </a:t>
            </a:r>
            <a:r>
              <a:rPr lang="en-IN" sz="1800" dirty="0" err="1"/>
              <a:t>crossentropy</a:t>
            </a:r>
            <a:r>
              <a:rPr lang="en-IN" sz="1800" dirty="0"/>
              <a:t> loss function</a:t>
            </a:r>
          </a:p>
          <a:p>
            <a:pPr marL="285750" indent="-285750">
              <a:buFont typeface="Wingdings" panose="05000000000000000000" pitchFamily="2" charset="2"/>
              <a:buChar char="v"/>
            </a:pPr>
            <a:r>
              <a:rPr lang="en-IN" sz="1800" b="1" dirty="0"/>
              <a:t>Model Evaluation</a:t>
            </a:r>
          </a:p>
          <a:p>
            <a:pPr marL="285750" indent="-285750">
              <a:buFont typeface="Arial" panose="020B0604020202020204" pitchFamily="34" charset="0"/>
              <a:buChar char="•"/>
            </a:pPr>
            <a:r>
              <a:rPr lang="en-IN" sz="1800" dirty="0"/>
              <a:t> Visualized accuracy and loss graphs for training and validation</a:t>
            </a:r>
          </a:p>
          <a:p>
            <a:pPr marL="285750" indent="-285750">
              <a:buFont typeface="Arial" panose="020B0604020202020204" pitchFamily="34" charset="0"/>
              <a:buChar char="•"/>
            </a:pPr>
            <a:r>
              <a:rPr lang="en-IN" sz="1800" dirty="0"/>
              <a:t> Achieved 99.8% confidence on test prediction.</a:t>
            </a:r>
          </a:p>
          <a:p>
            <a:pPr marL="285750" indent="-285750">
              <a:buFont typeface="Wingdings" panose="05000000000000000000" pitchFamily="2" charset="2"/>
              <a:buChar char="v"/>
            </a:pPr>
            <a:r>
              <a:rPr lang="en-IN" sz="1800" b="1" dirty="0"/>
              <a:t>Model Saving &amp; Testing</a:t>
            </a:r>
          </a:p>
          <a:p>
            <a:pPr marL="285750" indent="-285750">
              <a:buFont typeface="Arial" panose="020B0604020202020204" pitchFamily="34" charset="0"/>
              <a:buChar char="•"/>
            </a:pPr>
            <a:r>
              <a:rPr lang="en-IN" sz="1800" dirty="0"/>
              <a:t>Saved the model as waste_classifier_model.h5 and .</a:t>
            </a:r>
            <a:r>
              <a:rPr lang="en-IN" sz="1800" dirty="0" err="1"/>
              <a:t>keras</a:t>
            </a:r>
            <a:r>
              <a:rPr lang="en-IN" sz="1800" dirty="0"/>
              <a:t> formats</a:t>
            </a:r>
          </a:p>
          <a:p>
            <a:pPr marL="285750" indent="-285750">
              <a:buFont typeface="Arial" panose="020B0604020202020204" pitchFamily="34" charset="0"/>
              <a:buChar char="•"/>
            </a:pPr>
            <a:r>
              <a:rPr lang="en-IN" sz="1800" dirty="0"/>
              <a:t>Tested model with new input images for accurate classification </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340829" y="107346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1DAF51C7-3E6A-CCC4-3C9C-8E1C22174E51}"/>
              </a:ext>
            </a:extLst>
          </p:cNvPr>
          <p:cNvSpPr txBox="1"/>
          <p:nvPr/>
        </p:nvSpPr>
        <p:spPr>
          <a:xfrm>
            <a:off x="340829" y="1473572"/>
            <a:ext cx="11432071" cy="3180422"/>
          </a:xfrm>
          <a:prstGeom prst="rect">
            <a:avLst/>
          </a:prstGeom>
          <a:noFill/>
        </p:spPr>
        <p:txBody>
          <a:bodyPr wrap="square" rtlCol="0">
            <a:spAutoFit/>
          </a:bodyPr>
          <a:lstStyle/>
          <a:p>
            <a:endParaRPr lang="en-US" dirty="0"/>
          </a:p>
          <a:p>
            <a:pPr algn="just"/>
            <a:r>
              <a:rPr lang="en-US" sz="2000" dirty="0"/>
              <a:t>Improper waste segregation is a serious environmental challenge that leads to increased pollution, health risks, and inefficient recycling. In many places, waste is still sorted manually, which is both time-consuming and unsafe, especially when handling hazardous materials. The absence of an automated classification system results in inaccurate segregation and wastage of recyclable materials. To address this issue, there is a need for an AI-based solution that can automatically identify and categorize waste into different classes such as plastic, paper, metal, glass, and organic waste. By implementing such a system using Convolutional Neural Networks (CNNs), the process of waste segregation can become faster, safer, and more efficient, ultimately supporting sustainable waste management and a cleaner environment</a:t>
            </a:r>
            <a:r>
              <a:rPr lang="en-US" sz="2200" dirty="0"/>
              <a:t>.</a:t>
            </a:r>
            <a:endParaRPr lang="en-IN" sz="2200"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34784" y="84105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4" name="TextBox 3">
            <a:extLst>
              <a:ext uri="{FF2B5EF4-FFF2-40B4-BE49-F238E27FC236}">
                <a16:creationId xmlns:a16="http://schemas.microsoft.com/office/drawing/2014/main" id="{E5B5B8B4-44DF-4F4A-DA22-D839CB90041F}"/>
              </a:ext>
            </a:extLst>
          </p:cNvPr>
          <p:cNvSpPr txBox="1"/>
          <p:nvPr/>
        </p:nvSpPr>
        <p:spPr>
          <a:xfrm>
            <a:off x="345440" y="1291962"/>
            <a:ext cx="10891520" cy="4996304"/>
          </a:xfrm>
          <a:prstGeom prst="rect">
            <a:avLst/>
          </a:prstGeom>
          <a:noFill/>
        </p:spPr>
        <p:txBody>
          <a:bodyPr wrap="square" rtlCol="0">
            <a:spAutoFit/>
          </a:bodyPr>
          <a:lstStyle/>
          <a:p>
            <a:endParaRPr lang="en-US" dirty="0"/>
          </a:p>
          <a:p>
            <a:pPr algn="just"/>
            <a:r>
              <a:rPr lang="en-US" sz="2000" dirty="0"/>
              <a:t>The proposed solution uses a Convolutional Neural Network (CNN) to automatically classify waste images into categories such as plastic, paper, metal, glass, and biological waste. The model is developed using TensorFlow and </a:t>
            </a:r>
            <a:r>
              <a:rPr lang="en-US" sz="2000" dirty="0" err="1"/>
              <a:t>Keras</a:t>
            </a:r>
            <a:r>
              <a:rPr lang="en-US" sz="2000" dirty="0"/>
              <a:t>, trained on a dataset containing 15,628 training and 3,904 validation images across ten different waste classes. Each image is resized to 224×224 pixels and normalized to ensure consistent input. The CNN architecture includes convolutional, pooling, flatten, and dense layers, which help extract important visual features and perform accurate classification. The model contains 11,170,250 trainable parameters with a total size of about 42.6 MB. It was trained for ten epochs using the Adam optimizer and categorical cross-entropy loss function. During training, the model achieved 98.25% accuracy and around 70% validation accuracy, showing strong learning performance with slight overfitting. The model was saved successfully in both .h5 and .</a:t>
            </a:r>
            <a:r>
              <a:rPr lang="en-US" sz="2000" dirty="0" err="1"/>
              <a:t>keras</a:t>
            </a:r>
            <a:r>
              <a:rPr lang="en-US" sz="2000" dirty="0"/>
              <a:t> formats. When tested with a sample image, it predicted the waste type as “biological” with 99.8% confidence. This CNN-based approach provides a fast, reliable, and eco-friendly solution for waste segregation, reducing manual effort and supporting sustainable waste management practices for a cleaner environment</a:t>
            </a:r>
            <a:r>
              <a:rPr lang="en-US" dirty="0"/>
              <a:t>.</a:t>
            </a:r>
            <a:endParaRPr lang="en-IN" dirty="0"/>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04304" y="8512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descr="A screenshot of a computer&#10;&#10;AI-generated content may be incorrect.">
            <a:extLst>
              <a:ext uri="{FF2B5EF4-FFF2-40B4-BE49-F238E27FC236}">
                <a16:creationId xmlns:a16="http://schemas.microsoft.com/office/drawing/2014/main" id="{5D0967A2-EDAE-C285-2523-9013C0CED94B}"/>
              </a:ext>
            </a:extLst>
          </p:cNvPr>
          <p:cNvPicPr>
            <a:picLocks noChangeAspect="1"/>
          </p:cNvPicPr>
          <p:nvPr/>
        </p:nvPicPr>
        <p:blipFill>
          <a:blip r:embed="rId2"/>
          <a:stretch>
            <a:fillRect/>
          </a:stretch>
        </p:blipFill>
        <p:spPr>
          <a:xfrm>
            <a:off x="0" y="1605280"/>
            <a:ext cx="4196080" cy="4917440"/>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6C14BF18-4DC4-0B8B-2B1C-3A79BE478CFD}"/>
              </a:ext>
            </a:extLst>
          </p:cNvPr>
          <p:cNvPicPr>
            <a:picLocks noChangeAspect="1"/>
          </p:cNvPicPr>
          <p:nvPr/>
        </p:nvPicPr>
        <p:blipFill>
          <a:blip r:embed="rId3"/>
          <a:stretch>
            <a:fillRect/>
          </a:stretch>
        </p:blipFill>
        <p:spPr>
          <a:xfrm>
            <a:off x="3698241" y="1605280"/>
            <a:ext cx="4297681" cy="4998720"/>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D7F4D66E-FF04-FFF8-0F93-A55F0DC34C1F}"/>
              </a:ext>
            </a:extLst>
          </p:cNvPr>
          <p:cNvPicPr>
            <a:picLocks noChangeAspect="1"/>
          </p:cNvPicPr>
          <p:nvPr/>
        </p:nvPicPr>
        <p:blipFill>
          <a:blip r:embed="rId4"/>
          <a:stretch>
            <a:fillRect/>
          </a:stretch>
        </p:blipFill>
        <p:spPr>
          <a:xfrm>
            <a:off x="7995923" y="1605280"/>
            <a:ext cx="3860796" cy="4998720"/>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DDE9F7E2-F063-100D-1038-BA3BEB6281AD}"/>
              </a:ext>
            </a:extLst>
          </p:cNvPr>
          <p:cNvSpPr txBox="1"/>
          <p:nvPr/>
        </p:nvSpPr>
        <p:spPr>
          <a:xfrm>
            <a:off x="325120" y="1869440"/>
            <a:ext cx="11003280" cy="2841868"/>
          </a:xfrm>
          <a:prstGeom prst="rect">
            <a:avLst/>
          </a:prstGeom>
          <a:noFill/>
        </p:spPr>
        <p:txBody>
          <a:bodyPr wrap="square" rtlCol="0">
            <a:spAutoFit/>
          </a:bodyPr>
          <a:lstStyle/>
          <a:p>
            <a:endParaRPr lang="en-US" dirty="0"/>
          </a:p>
          <a:p>
            <a:pPr algn="just"/>
            <a:r>
              <a:rPr lang="en-US" sz="2000" dirty="0"/>
              <a:t>The project successfully developed a Convolutional Neural Network (CNN) model to classify waste into various categories such as plastic, paper, metal, glass, and biological waste. The model was trained using TensorFlow and </a:t>
            </a:r>
            <a:r>
              <a:rPr lang="en-US" sz="2000" dirty="0" err="1"/>
              <a:t>Keras</a:t>
            </a:r>
            <a:r>
              <a:rPr lang="en-US" sz="2000" dirty="0"/>
              <a:t> with high accuracy, achieving 98.25% training accuracy and around 70% validation accuracy. When tested with new images, it accurately identified the waste type with 99.8% confidence. This demonstrates the model’s ability to perform efficient and reliable waste classification. The proposed system helps reduce manual effort, improves recycling efficiency, and supports sustainable and eco-friendly waste management practices for a cleaner environment.</a:t>
            </a:r>
            <a:endParaRPr lang="en-IN" sz="200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129</TotalTime>
  <Words>863</Words>
  <Application>Microsoft Office PowerPoint</Application>
  <PresentationFormat>Widescreen</PresentationFormat>
  <Paragraphs>70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Jawahar G</cp:lastModifiedBy>
  <cp:revision>5</cp:revision>
  <dcterms:created xsi:type="dcterms:W3CDTF">2024-12-31T09:40:01Z</dcterms:created>
  <dcterms:modified xsi:type="dcterms:W3CDTF">2025-11-11T15:52:21Z</dcterms:modified>
</cp:coreProperties>
</file>